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2d65ae9e024b48" /><Relationship Type="http://schemas.openxmlformats.org/officeDocument/2006/relationships/extended-properties" Target="/docProps/app.xml" Id="Rc152bdb117b14913" /><Relationship Type="http://schemas.openxmlformats.org/officeDocument/2006/relationships/officeDocument" Target="/ppt/presentation.xml" Id="Rf0bb15e2a0db4d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74d2d2cdda42cd"/>
  </p:sldMasterIdLst>
  <p:notesMasterIdLst>
    <p:notesMasterId xmlns:r="http://schemas.openxmlformats.org/officeDocument/2006/relationships" r:id="Ra51165cae62b4bcf"/>
  </p:notesMasterIdLst>
  <p:sldIdLst>
    <p:sldId xmlns:r="http://schemas.openxmlformats.org/officeDocument/2006/relationships" id="256" r:id="R9dd208ab746d438f"/>
    <p:sldId xmlns:r="http://schemas.openxmlformats.org/officeDocument/2006/relationships" id="257" r:id="R291f699a754748ae"/>
    <p:sldId xmlns:r="http://schemas.openxmlformats.org/officeDocument/2006/relationships" id="258" r:id="R22b48153506d474d"/>
    <p:sldId xmlns:r="http://schemas.openxmlformats.org/officeDocument/2006/relationships" id="259" r:id="Rb8d79f8238444638"/>
    <p:sldId xmlns:r="http://schemas.openxmlformats.org/officeDocument/2006/relationships" id="260" r:id="R65f5eca365c5430a"/>
    <p:sldId xmlns:r="http://schemas.openxmlformats.org/officeDocument/2006/relationships" id="261" r:id="Rcd8e593651444a0b"/>
    <p:sldId xmlns:r="http://schemas.openxmlformats.org/officeDocument/2006/relationships" id="262" r:id="R041edb48da184ded"/>
    <p:sldId xmlns:r="http://schemas.openxmlformats.org/officeDocument/2006/relationships" id="263" r:id="R6564b8b307c14679"/>
    <p:sldId xmlns:r="http://schemas.openxmlformats.org/officeDocument/2006/relationships" id="264" r:id="R45a320f567b44008"/>
    <p:sldId xmlns:r="http://schemas.openxmlformats.org/officeDocument/2006/relationships" id="265" r:id="Rbef2fb6974e5436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4d2d2cdda42cd" /><Relationship Type="http://schemas.openxmlformats.org/officeDocument/2006/relationships/theme" Target="/ppt/theme/theme1.xml" Id="R09d605ae58fc4603" /><Relationship Type="http://schemas.openxmlformats.org/officeDocument/2006/relationships/notesMaster" Target="/ppt/notesMasters/notesMaster1.xml" Id="Ra51165cae62b4bcf" /><Relationship Type="http://schemas.openxmlformats.org/officeDocument/2006/relationships/presProps" Target="/ppt/presProps.xml" Id="R90218e898e2c42e0" /><Relationship Type="http://schemas.openxmlformats.org/officeDocument/2006/relationships/viewProps" Target="/ppt/viewProps.xml" Id="R28bcd53e4696413d" /><Relationship Type="http://schemas.openxmlformats.org/officeDocument/2006/relationships/tableStyles" Target="/ppt/tableStyles.xml" Id="R1cf1cc1529fb40f1" /><Relationship Type="http://schemas.openxmlformats.org/officeDocument/2006/relationships/slide" Target="/ppt/slides/slide1.xml" Id="R9dd208ab746d438f" /><Relationship Type="http://schemas.openxmlformats.org/officeDocument/2006/relationships/slide" Target="/ppt/slides/slide2.xml" Id="R291f699a754748ae" /><Relationship Type="http://schemas.openxmlformats.org/officeDocument/2006/relationships/slide" Target="/ppt/slides/slide3.xml" Id="R22b48153506d474d" /><Relationship Type="http://schemas.openxmlformats.org/officeDocument/2006/relationships/slide" Target="/ppt/slides/slide4.xml" Id="Rb8d79f8238444638" /><Relationship Type="http://schemas.openxmlformats.org/officeDocument/2006/relationships/slide" Target="/ppt/slides/slide5.xml" Id="R65f5eca365c5430a" /><Relationship Type="http://schemas.openxmlformats.org/officeDocument/2006/relationships/slide" Target="/ppt/slides/slide6.xml" Id="Rcd8e593651444a0b" /><Relationship Type="http://schemas.openxmlformats.org/officeDocument/2006/relationships/slide" Target="/ppt/slides/slide7.xml" Id="R041edb48da184ded" /><Relationship Type="http://schemas.openxmlformats.org/officeDocument/2006/relationships/slide" Target="/ppt/slides/slide8.xml" Id="R6564b8b307c14679" /><Relationship Type="http://schemas.openxmlformats.org/officeDocument/2006/relationships/slide" Target="/ppt/slides/slide9.xml" Id="R45a320f567b44008" /><Relationship Type="http://schemas.openxmlformats.org/officeDocument/2006/relationships/slide" Target="/ppt/slides/slide10.xml" Id="Rbef2fb6974e543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d2b4b0692cb45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a3eee73e474617" /><Relationship Type="http://schemas.openxmlformats.org/officeDocument/2006/relationships/notesMaster" Target="/ppt/notesMasters/notesMaster1.xml" Id="R134369a927874b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a990c478cc4bb4" /><Relationship Type="http://schemas.openxmlformats.org/officeDocument/2006/relationships/notesMaster" Target="/ppt/notesMasters/notesMaster1.xml" Id="R5c4422b8b2a34f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8445a327824d50" /><Relationship Type="http://schemas.openxmlformats.org/officeDocument/2006/relationships/notesMaster" Target="/ppt/notesMasters/notesMaster1.xml" Id="Rfdca6e9eaeaa4d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17203520664aa3" /><Relationship Type="http://schemas.openxmlformats.org/officeDocument/2006/relationships/notesMaster" Target="/ppt/notesMasters/notesMaster1.xml" Id="Rfd38336383564d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bd0f4cf75748b1" /><Relationship Type="http://schemas.openxmlformats.org/officeDocument/2006/relationships/notesMaster" Target="/ppt/notesMasters/notesMaster1.xml" Id="Raa06686beb91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ed4ff2494341f4" /><Relationship Type="http://schemas.openxmlformats.org/officeDocument/2006/relationships/notesMaster" Target="/ppt/notesMasters/notesMaster1.xml" Id="Re54b6a8c4c7244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db041e0c524b67" /><Relationship Type="http://schemas.openxmlformats.org/officeDocument/2006/relationships/notesMaster" Target="/ppt/notesMasters/notesMaster1.xml" Id="Rf04f66ef01df42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34937cd50647af" /><Relationship Type="http://schemas.openxmlformats.org/officeDocument/2006/relationships/notesMaster" Target="/ppt/notesMasters/notesMaster1.xml" Id="Ra780fb2d707e42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4a871ccffa4ee2" /><Relationship Type="http://schemas.openxmlformats.org/officeDocument/2006/relationships/notesMaster" Target="/ppt/notesMasters/notesMaster1.xml" Id="Ree86268a2ce44d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a0fc013cbc4cb0" /><Relationship Type="http://schemas.openxmlformats.org/officeDocument/2006/relationships/notesMaster" Target="/ppt/notesMasters/notesMaster1.xml" Id="Rbc47228e201946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efa9cd33a4e3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a4bfbe2243847cc" /><Relationship Type="http://schemas.openxmlformats.org/officeDocument/2006/relationships/slideLayout" Target="/ppt/slideLayouts/slideLayout2.xml" Id="Rdfdc4ff854dd45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dc4ff854dd45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4faeebc98d43f2" /><Relationship Type="http://schemas.openxmlformats.org/officeDocument/2006/relationships/notesSlide" Target="/ppt/notesSlides/notesSlide1.xml" Id="Rfb5bf509d65a47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acc5f5de2645ff" /><Relationship Type="http://schemas.openxmlformats.org/officeDocument/2006/relationships/notesSlide" Target="/ppt/notesSlides/notesSlide2.xml" Id="Rfc50bb2c20aa45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0f07773d2a4a21" /><Relationship Type="http://schemas.openxmlformats.org/officeDocument/2006/relationships/notesSlide" Target="/ppt/notesSlides/notesSlide3.xml" Id="Rac4d8af6443f4f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f67ed094cf41ca" /><Relationship Type="http://schemas.openxmlformats.org/officeDocument/2006/relationships/notesSlide" Target="/ppt/notesSlides/notesSlide4.xml" Id="Rc082483cf6a545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8390c2ec0a4bdf" /><Relationship Type="http://schemas.openxmlformats.org/officeDocument/2006/relationships/notesSlide" Target="/ppt/notesSlides/notesSlide5.xml" Id="R9e7bf604b42745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b6494edc6145fe" /><Relationship Type="http://schemas.openxmlformats.org/officeDocument/2006/relationships/notesSlide" Target="/ppt/notesSlides/notesSlide6.xml" Id="R2f5ab9988b8947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3197731ad9431e" /><Relationship Type="http://schemas.openxmlformats.org/officeDocument/2006/relationships/notesSlide" Target="/ppt/notesSlides/notesSlide7.xml" Id="R75c581331a244e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4d2571e9704eb2" /><Relationship Type="http://schemas.openxmlformats.org/officeDocument/2006/relationships/notesSlide" Target="/ppt/notesSlides/notesSlide8.xml" Id="Rb49edfc79de347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405f140e3344d9" /><Relationship Type="http://schemas.openxmlformats.org/officeDocument/2006/relationships/notesSlide" Target="/ppt/notesSlides/notesSlide9.xml" Id="R54cb260f426349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39d671a54e42ec" /><Relationship Type="http://schemas.openxmlformats.org/officeDocument/2006/relationships/notesSlide" Target="/ppt/notesSlides/notesSlide10.xml" Id="Rb8bdc8e281e046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E5F24-BEDE-4D1F-A297-5551946D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85800"/>
            <a:ext cx="166859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3333"/>
            </a:srgbClr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5DDCD-6E8A-4654-8615-72878F10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AI 활용 경진대회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89DCB-3043-42D0-9758-344CCD21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62000"/>
            <a:ext cx="1482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호서대학교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2B0B0-D690-42EB-840B-7F0D5531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286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AF7FF"/>
                </a:solidFill>
              </a:defRPr>
            </a:pPr>
            <a:r>
              <a:rPr sz="11250" b="1">
                <a:solidFill>
                  <a:srgbClr val="EAF7FF"/>
                </a:solidFill>
              </a:rPr>
              <a:t>日本語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FAE22-0D0F-40DB-8FBA-81585AB9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375285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38BDF8"/>
                </a:solidFill>
              </a:defRPr>
            </a:pPr>
            <a:r>
              <a:rPr sz="7200" b="1">
                <a:solidFill>
                  <a:srgbClr val="38BDF8"/>
                </a:solidFill>
              </a:rPr>
              <a:t>마스터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57F3B-7C4C-499A-B77B-EF4CB394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34200"/>
            <a:ext cx="8229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AFC3DE"/>
                </a:solidFill>
              </a:defRPr>
            </a:pPr>
            <a:r>
              <a:rPr sz="2325" b="0">
                <a:solidFill>
                  <a:srgbClr val="AFC3DE"/>
                </a:solidFill>
              </a:rPr>
              <a:t>기초 문자 학습부터 실전 회화까지 이어지는 AI 일본어 학습 웹앱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545F1-6D0D-43FB-B85F-82CCA028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334500"/>
            <a:ext cx="1544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EFAC"/>
                </a:solidFill>
              </a:defRPr>
            </a:pPr>
            <a:r>
              <a:rPr sz="1650" b="1">
                <a:solidFill>
                  <a:srgbClr val="86EFAC"/>
                </a:solidFill>
              </a:rPr>
              <a:t>HTML 단일 앱 · Cloud Functions · Vertex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03625-EC28-4455-A610-0AA99730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105900"/>
            <a:ext cx="78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FC3DE"/>
                </a:solidFill>
              </a:defRPr>
            </a:pPr>
            <a:r>
              <a:rPr sz="1650" b="0">
                <a:solidFill>
                  <a:srgbClr val="AFC3DE"/>
                </a:solidFill>
              </a:rPr>
              <a:t>발표 5분</a:t>
            </a:r>
          </a:p>
        </p:txBody>
      </p:sp>
    </p:spTree>
    <p:extLst>
      <p:ext uri="{BB962C8B-B14F-4D97-AF65-F5344CB8AC3E}">
        <p14:creationId xmlns:p14="http://schemas.microsoft.com/office/powerpoint/2010/main" val="577189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BA9C05-8016-4509-931A-6B1C089E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52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왜 만들었나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307E22-CA1A-4AA2-A7CD-A2B37DFB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544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기존 일본어 앱은 기초와 실전 사이의 연결이 약했습니다.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91067-49E4-49FB-A99E-7275AD45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7292" y="914400"/>
            <a:ext cx="1107758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0438D-CD6F-4315-98E7-1F1849F6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906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BF24"/>
                </a:solidFill>
              </a:defRPr>
            </a:pPr>
            <a:r>
              <a:rPr sz="1425" b="1">
                <a:solidFill>
                  <a:srgbClr val="FBBF24"/>
                </a:solidFill>
              </a:rPr>
              <a:t>문제 정의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B179A-AB3D-497E-A5A8-6ABCF018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9D78A-7F71-416F-9C19-A4BD11B0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813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BBF24"/>
                </a:solidFill>
              </a:defRPr>
            </a:pPr>
            <a:r>
              <a:rPr sz="2550" b="1">
                <a:solidFill>
                  <a:srgbClr val="FBBF24"/>
                </a:solidFill>
              </a:rPr>
              <a:t>문제 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673F2-43EB-4377-8FA0-4DBA80E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F0D7F-0627-4E21-A64B-F79BE280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문자표와 단어장은 외우기 중심이라 지속성이 낮음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30D21-8407-4A0C-A169-58A0AF79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E3EFE-8B59-4B34-A122-802A604C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483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퀴즈는 맞고 틀림만 알려주고 약점 누적이 부족함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0AB76-FE2C-4BEB-8092-98F9D092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627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1DF2F-5ED4-4923-B279-C7924D6B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627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실제 여행·생활 상황에서 말해보는 연습이 제한적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41060-180F-407E-9954-8A21AFD2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05350"/>
            <a:ext cx="813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8BDF8"/>
                </a:solidFill>
              </a:defRPr>
            </a:pPr>
            <a:r>
              <a:rPr sz="2550" b="1">
                <a:solidFill>
                  <a:srgbClr val="38BDF8"/>
                </a:solidFill>
              </a:rPr>
              <a:t>AI 활용 방향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3F17B-7290-4BFD-8ADE-EF03BC85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8B893-7711-4DEE-9590-B72B1676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340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학습자의 상황 입력에 맞춰 표현을 즉시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7F402-AB71-4C47-8BD3-F0FFCD67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483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DF289-BC4F-4A02-A48B-C2AC8F06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483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오답과 취약 문자를 기반으로 복습 흐름 제공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E45EC-F884-4424-A8A7-DC981FAF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627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67FDB-2300-4DB4-B668-99880018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역할 기반 대화로 실제 일본어 사용 장면을 시뮬레이션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00D33-E746-4B72-8044-369A894E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CE4CD-C3FB-4695-9ACA-CF2413ED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2681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F40663-562D-4588-8834-26665E52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925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시스템 구조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AB7EF2-12D8-4290-8700-E007B4CA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54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브라우저에서 바로 실행되는 단일 HTML 앱에 GCP 기반 AI 호출을 연결했습니다.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F8E28-6340-4326-8F58-9538DCDB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781050"/>
            <a:ext cx="7048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EFAC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488B8-A0DB-43AA-AEB3-64F9BCA5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857250"/>
            <a:ext cx="36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CC04A-9596-422F-98B6-94097370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6AD59-635F-4D33-BFA1-28012EBD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8608"/>
            <a:ext cx="4902200" cy="1524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4D538-7D4B-401B-822C-DAC7FCA9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436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BFF"/>
                </a:solidFill>
              </a:defRPr>
            </a:pPr>
            <a:r>
              <a:rPr sz="2400" b="1">
                <a:solidFill>
                  <a:srgbClr val="F8FBFF"/>
                </a:solidFill>
              </a:rPr>
              <a:t>경진대회.html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9AE5B-5952-403F-9C45-32D85B32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UI · 퀴즈 · 학습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B7D9D-333B-4008-9B03-3E8903D9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95750"/>
            <a:ext cx="857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8BDF8"/>
                </a:solidFill>
              </a:defRPr>
            </a:pPr>
            <a:r>
              <a:rPr sz="435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A8F26-8D9D-4347-9482-6773344A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098608"/>
            <a:ext cx="4902200" cy="1524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C3FA1-F6E8-4A00-A20B-287AC113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436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BFF"/>
                </a:solidFill>
              </a:defRPr>
            </a:pPr>
            <a:r>
              <a:rPr sz="2400" b="1">
                <a:solidFill>
                  <a:srgbClr val="F8FBFF"/>
                </a:solidFill>
              </a:rPr>
              <a:t>Cloud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63DED-8780-4349-A858-403686BD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720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API 키 보호 · 응답 정규화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B87E0-E1DF-4E54-9A58-427D40F9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095750"/>
            <a:ext cx="857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86EFAC"/>
                </a:solidFill>
              </a:defRPr>
            </a:pPr>
            <a:r>
              <a:rPr sz="4350" b="1">
                <a:solidFill>
                  <a:srgbClr val="86EFAC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A7B26-2D51-478B-AE2C-DF885041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2850" y="4098608"/>
            <a:ext cx="4902200" cy="1524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FD9E6-D696-4E51-BB5F-797EC0E3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533900"/>
            <a:ext cx="436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BFF"/>
                </a:solidFill>
              </a:defRPr>
            </a:pPr>
            <a:r>
              <a:rPr sz="2400" b="1">
                <a:solidFill>
                  <a:srgbClr val="F8FBFF"/>
                </a:solidFill>
              </a:rPr>
              <a:t>Vertex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728D3-0F1B-4FD0-A997-9A2003F8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9720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Gemini 기반 표현·대화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1F8F8-9563-4D7A-859A-9C50F673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48400"/>
            <a:ext cx="403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8BDF8"/>
                </a:solidFill>
              </a:defRPr>
            </a:pPr>
            <a:r>
              <a:rPr sz="3600" b="1">
                <a:solidFill>
                  <a:srgbClr val="38BDF8"/>
                </a:solidFill>
              </a:rPr>
              <a:t>HTML/CSS/JS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B05C4-8DD6-4FCC-9D6B-443B0DE5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389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프론트엔드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878BF-EB6E-466C-84BE-99E6BD94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248400"/>
            <a:ext cx="403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6EFAC"/>
                </a:solidFill>
              </a:defRPr>
            </a:pPr>
            <a:r>
              <a:rPr sz="3600" b="1">
                <a:solidFill>
                  <a:srgbClr val="86EFAC"/>
                </a:solidFill>
              </a:rPr>
              <a:t>localStorage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B58C0-42AF-41CC-8AAB-823E3BE0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8389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기록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EEF42-937C-495C-A902-F0E048FC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248400"/>
            <a:ext cx="403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BBF24"/>
                </a:solidFill>
              </a:defRPr>
            </a:pPr>
            <a:r>
              <a:rPr sz="3600" b="1">
                <a:solidFill>
                  <a:srgbClr val="FBBF24"/>
                </a:solidFill>
              </a:rPr>
              <a:t>Web Speech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6D657-DA1B-48CD-A27E-1C457A27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8389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발음 재생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0160F-3EC8-49FB-AF55-F969D34F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248400"/>
            <a:ext cx="403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B7185"/>
                </a:solidFill>
              </a:defRPr>
            </a:pPr>
            <a:r>
              <a:rPr sz="3600" b="1">
                <a:solidFill>
                  <a:srgbClr val="FB7185"/>
                </a:solidFill>
              </a:rPr>
              <a:t>Vertex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F5D628-6DB0-4423-B317-4C5AEC56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8389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생성형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65006E-9B71-47F4-B6B6-B0C873E2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1D4BD7-4281-40C7-AF68-01BBF4DB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168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A00319-7CE6-4579-864D-EE8D84D1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52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1 · 문자표와 발음 재생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6B7596-3A21-4B24-99B6-BC9B9650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히라가나·가타카나·탁음·요음을 한 화면에서 탐색하고 바로 들어볼 수 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1DF07-88FC-499C-8F0A-BCCC28AF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7292" y="781050"/>
            <a:ext cx="1107758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C0B92-DCBD-46A0-BE91-0A3AD38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8572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주요 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4A657-FDAD-4FAF-BFB6-B3748213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17AB6-E324-4B4A-BE04-24ABE222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3585"/>
            <a:ext cx="8846820" cy="7126605"/>
          </a:xfrm>
          <a:prstGeom xmlns:a="http://schemas.openxmlformats.org/drawingml/2006/main" prst="roundRect">
            <a:avLst>
              <a:gd name="adj" fmla="val 3742"/>
            </a:avLst>
          </a:prstGeom>
          <a:solidFill xmlns:a="http://schemas.openxmlformats.org/drawingml/2006/main">
            <a:srgbClr val="0F274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AB9F0-3D27-4B26-AA92-C500359D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91100"/>
            <a:ext cx="4648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히라가나·가타카나 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5CECE-9A2D-4A3F-82E0-AAA27877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436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5E530-FD2E-4391-8AAF-0A3C123A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958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D5C65-8FCE-40A6-AAEE-427FE41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958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기본 오십음도, 탁음·반탁음, 요음까지 확장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869F5-AD55-4426-84E7-260BC54D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102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342BD-6798-446B-9F9B-A1BD281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102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글자 클릭 시 Web Speech API로 발음 재생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ED4FD-CE6A-447B-BD4B-A5FC233C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245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C9327-DCBF-4490-91E3-D88492CD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9245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히라가나와 가타카나 비교표로 모양 차이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B89AB-7DC4-4A0B-B8DE-7D19C11E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33903-D8B4-4EEB-8BDB-0757AF05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79888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3BC035-1797-4327-855E-336E94D1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52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2 · 퀴즈 시스템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45FC08-1ABB-4F47-A689-6058331D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14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객관식, 타이핑, AI 맞춤 복습으로 반복 학습을 지루하지 않게 구성했습니다.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55F00-96D1-496C-A4B5-F4340622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7292" y="781050"/>
            <a:ext cx="1107758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EFAC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03664-26F3-4751-9F95-ED1C854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8572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주요 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70AE6-C35B-4504-AE7B-BB8A6C60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0D9FB-7EEB-405A-8D27-B74F754B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846AC-63F0-4E5C-ACBA-4F07DFE6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3가지 모드: 객관식 · 타이핑 · AI 맞춤 복습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28E98-A8A3-41EC-9847-95CECAC0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C909A-8CB7-4B66-AED9-181D9360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범위 선택: 기본 히라가나 → 탁음 포함 → 전체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2AF52-1103-45FA-B28A-0079283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C6320-A6BB-4E24-B0D7-241E2961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245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퀴즈 기록과 오답 로그를 저장해 복습에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16957-5694-4871-A4EC-EC3F55B1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230" y="2013585"/>
            <a:ext cx="8846820" cy="7126605"/>
          </a:xfrm>
          <a:prstGeom xmlns:a="http://schemas.openxmlformats.org/drawingml/2006/main" prst="roundRect">
            <a:avLst>
              <a:gd name="adj" fmla="val 3742"/>
            </a:avLst>
          </a:prstGeom>
          <a:solidFill xmlns:a="http://schemas.openxmlformats.org/drawingml/2006/main">
            <a:srgbClr val="0F274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7582C-7A62-4411-995B-80453B8F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991100"/>
            <a:ext cx="28956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퀴즈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5BC9C-BC81-42EA-AF8A-3B5161D4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436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DEB7D-11D1-49B7-9E74-555E5481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26BAD-EF84-422B-A3A1-C000979F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6797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C8C9EF-10DA-4B11-B5A9-F7F1BA74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735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3 · AI 표현 생성기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CBD801-942F-433F-AA03-1550746F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896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사용자가 입력한 상황에 맞춰 바로 쓸 수 있는 일본어 표현을 생성합니다.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7F623-2125-40A2-B8B3-5B4D80B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1318" y="819150"/>
            <a:ext cx="903732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4AEA2-67E0-4B31-B392-18E664C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1150" y="895350"/>
            <a:ext cx="552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BF24"/>
                </a:solidFill>
              </a:defRPr>
            </a:pPr>
            <a:r>
              <a:rPr sz="1425" b="1">
                <a:solidFill>
                  <a:srgbClr val="FBBF24"/>
                </a:solidFill>
              </a:rPr>
              <a:t>AI 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E0FFE-BF15-432D-92B5-AD830B26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4D230-A7D6-4100-AB27-3F8E228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8601075" cy="6863715"/>
          </a:xfrm>
          <a:prstGeom xmlns:a="http://schemas.openxmlformats.org/drawingml/2006/main" prst="roundRect">
            <a:avLst>
              <a:gd name="adj" fmla="val 3886"/>
            </a:avLst>
          </a:prstGeom>
          <a:solidFill xmlns:a="http://schemas.openxmlformats.org/drawingml/2006/main">
            <a:srgbClr val="0F274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11B88-F7B9-4571-A87F-93E894C4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24450"/>
            <a:ext cx="3619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AI 표현 생성기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0A0C5-7F75-4F86-BCDB-CA1275AA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769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87D1B-EB30-4354-BDDE-22BECBA7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24400"/>
            <a:ext cx="7791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BBF24"/>
                </a:solidFill>
              </a:defRPr>
            </a:pPr>
            <a:r>
              <a:rPr sz="2400" b="1">
                <a:solidFill>
                  <a:srgbClr val="FBBF24"/>
                </a:solidFill>
              </a:rPr>
              <a:t>예시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085F6-08BA-46A9-91A5-6D24040B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149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F1037-6167-4D8D-BC4E-C49D844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314950"/>
            <a:ext cx="741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상황 입력: 편의점, 식당, 길 찾기 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6C84F-3B04-4293-B378-F7327198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8293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5C3BD-6307-48EC-BC35-ABC6129C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829300"/>
            <a:ext cx="741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일본어 표현 · 히라가나 독음 · 한국어 뜻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43D6C-AE26-42E4-9B84-AE906626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436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CE19B-1296-48ED-8225-C35204F3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343650"/>
            <a:ext cx="741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AI 실패 시 오프라인 상황 DB로 기본 표현 제공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0CA95-9B89-49C2-9F0A-F1482BC8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39330-8764-4B61-8583-85A79A31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7387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6DD69F-2BD9-4352-8012-A6EEB64D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735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4 · AI 대화 시뮬레이터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B00074-53B8-497B-AF5B-521D416C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5943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식당·호텔·공항 등 실제 역할 상황에서 AI와 짧게 주고받습니다.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09F84-F133-409A-BAFC-7F10912A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1318" y="819150"/>
            <a:ext cx="903732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CC016-A7CA-42BC-AA76-847AA940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1150" y="895350"/>
            <a:ext cx="552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7185"/>
                </a:solidFill>
              </a:defRPr>
            </a:pPr>
            <a:r>
              <a:rPr sz="1425" b="1">
                <a:solidFill>
                  <a:srgbClr val="FB7185"/>
                </a:solidFill>
              </a:rPr>
              <a:t>AI 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37AF8-2A09-4F85-A660-D22C11A9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6D5A8-E100-4E27-BBF5-E0945D4A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7185"/>
                </a:solidFill>
              </a:defRPr>
            </a:pPr>
            <a:r>
              <a:rPr sz="2250" b="1">
                <a:solidFill>
                  <a:srgbClr val="FB718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ED6A3-CA2B-4DD8-B297-6E00D9BA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8가지 상황 카드로 대화 맥락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FDF08-872B-468C-93AE-C0CB3D1A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7185"/>
                </a:solidFill>
              </a:defRPr>
            </a:pPr>
            <a:r>
              <a:rPr sz="2250" b="1">
                <a:solidFill>
                  <a:srgbClr val="FB718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39C44-5885-4744-878C-6A3FF06A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일본어 답변, 히라가나 독음, 한국어 해석 동시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14BF1-AAB0-4929-B063-09B35F76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7185"/>
                </a:solidFill>
              </a:defRPr>
            </a:pPr>
            <a:r>
              <a:rPr sz="2250" b="1">
                <a:solidFill>
                  <a:srgbClr val="FB718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AB023-FF15-4CAA-B338-5802D48C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579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힌트 버튼으로 다음 말하기 예시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D3CDF-7780-45AF-A87C-3286EB47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230" y="2276475"/>
            <a:ext cx="8846820" cy="6863715"/>
          </a:xfrm>
          <a:prstGeom xmlns:a="http://schemas.openxmlformats.org/drawingml/2006/main" prst="roundRect">
            <a:avLst>
              <a:gd name="adj" fmla="val 3886"/>
            </a:avLst>
          </a:prstGeom>
          <a:solidFill xmlns:a="http://schemas.openxmlformats.org/drawingml/2006/main">
            <a:srgbClr val="0F274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1FE7F-BAF4-4CB3-84EA-6087AE5D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124450"/>
            <a:ext cx="4267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AI 대화 시뮬레이터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C61B3-472A-44D4-9184-E582D7CA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0769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F27A2-1217-4478-83DB-F2D44F2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BF560-D37B-4589-A926-7E1BC5B8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9767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FB6DE4-471B-4955-95F4-CFEE04F7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52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학습 커리큘럼과 통계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2148DB-D294-41ED-82B4-65B4F1CB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343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36단원 진행률과 XP/레벨 시스템으로 학습 지속성을 만들었습니다.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047D4-A182-44CA-A04D-41347CFB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7292" y="914400"/>
            <a:ext cx="1107758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3C0AE-DDEC-4638-937F-8627D41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906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학습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84753-E00E-4549-8D34-F1D77B50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FEC77-6D3B-44C3-A039-ECE716CA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8601075" cy="6863715"/>
          </a:xfrm>
          <a:prstGeom xmlns:a="http://schemas.openxmlformats.org/drawingml/2006/main" prst="roundRect">
            <a:avLst>
              <a:gd name="adj" fmla="val 3886"/>
            </a:avLst>
          </a:prstGeom>
          <a:solidFill xmlns:a="http://schemas.openxmlformats.org/drawingml/2006/main">
            <a:srgbClr val="0F274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443B5-F334-41CA-9063-973AFDF2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24450"/>
            <a:ext cx="43434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커리큘럼·통계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09D03-046F-4637-B7F8-F0E66956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769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28141-1777-4160-A5B5-A26B150C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95800"/>
            <a:ext cx="377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8BDF8"/>
                </a:solidFill>
              </a:defRPr>
            </a:pPr>
            <a:r>
              <a:rPr sz="3600" b="1">
                <a:solidFill>
                  <a:srgbClr val="38BDF8"/>
                </a:solidFill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65A1B-CA53-4EFF-8791-94DF67D7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8635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단원 커리큘럼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434B7-3DE1-4D22-A2BF-3202284C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495800"/>
            <a:ext cx="377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6EFAC"/>
                </a:solidFill>
              </a:defRPr>
            </a:pPr>
            <a:r>
              <a:rPr sz="3600" b="1">
                <a:solidFill>
                  <a:srgbClr val="86EFAC"/>
                </a:solidFill>
              </a:rPr>
              <a:t>XP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97BA8-43FF-4233-9573-AAB2C619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08635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학습 보상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9AA09-82F0-43FC-9019-A24DD115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562600"/>
            <a:ext cx="377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BBF24"/>
                </a:solidFill>
              </a:defRPr>
            </a:pPr>
            <a:r>
              <a:rPr sz="3600" b="1">
                <a:solidFill>
                  <a:srgbClr val="FBBF24"/>
                </a:solidFill>
              </a:rPr>
              <a:t>Lv.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2AA02-4C46-451C-88CB-364A984E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13410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레벨 성장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7359B-E597-4688-B7A8-FE15B491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562600"/>
            <a:ext cx="377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B7185"/>
                </a:solidFill>
              </a:defRPr>
            </a:pPr>
            <a:r>
              <a:rPr sz="3600" b="1">
                <a:solidFill>
                  <a:srgbClr val="FB7185"/>
                </a:solidFill>
              </a:rPr>
              <a:t>TOP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D282E-F50E-4CA1-855D-C587571F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613410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약점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CF552-B02D-409E-8B91-DB361F52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62940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FC3DE"/>
                </a:solidFill>
              </a:defRPr>
            </a:pPr>
            <a:r>
              <a:rPr sz="1875" b="0">
                <a:solidFill>
                  <a:srgbClr val="AFC3DE"/>
                </a:solidFill>
              </a:rPr>
              <a:t>단순 암기 앱보다 ‘오늘 어디까지 했는지’가 보이도록 설계했습니다.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DDD82-2A24-47E2-AC6D-D64AA292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088A1-E7FE-4C9C-91A9-4BFF2E1C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3046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9F7620-CA58-4ED8-AF15-CCFC550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52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개발 과정에서 해결한 문제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CBB19B-25D4-4229-88F2-01749B1B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81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시연 안정성과 AI 활용 가능성을 높이기 위해 구조를 계속 다듬었습니다.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69ACD-2154-4422-8D33-344EE2A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7292" y="781050"/>
            <a:ext cx="1107758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EFAC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F72CD-C898-49DD-B6C9-850B7E9C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8572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개발 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498BB-E621-4537-961D-4796CF13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FBC72-696E-47A3-8CF1-F217710E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3585"/>
            <a:ext cx="5410200" cy="7126605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3676E-FF70-41CC-8D6F-3D9BC2C9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4838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8BDF8"/>
                </a:solidFill>
              </a:defRPr>
            </a:pPr>
            <a:r>
              <a:rPr sz="2325" b="1">
                <a:solidFill>
                  <a:srgbClr val="38BDF8"/>
                </a:solidFill>
              </a:rPr>
              <a:t>Vertex AI 전환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50117-9531-4B91-BB8D-C91BB36C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4838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8FBFF"/>
                </a:solidFill>
              </a:defRPr>
            </a:pPr>
            <a:r>
              <a:rPr sz="1800" b="0">
                <a:solidFill>
                  <a:srgbClr val="F8FBFF"/>
                </a:solidFill>
              </a:rPr>
              <a:t>기존 Gemini API 키 방식에서 GCP 크레딧을 활용할 수 있는 Vertex AI 구조로 전환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E01D3-6C18-4F56-A632-156CD2D0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3585"/>
            <a:ext cx="5410200" cy="7126605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AF559-5B7D-44EF-90C8-AE1FEE96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05050"/>
            <a:ext cx="4838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6EFAC"/>
                </a:solidFill>
              </a:defRPr>
            </a:pPr>
            <a:r>
              <a:rPr sz="2325" b="1">
                <a:solidFill>
                  <a:srgbClr val="86EFAC"/>
                </a:solidFill>
              </a:rPr>
              <a:t>응답 안정화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A74C6-0206-4BD1-80C0-0D6E8BE8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4838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8FBFF"/>
                </a:solidFill>
              </a:defRPr>
            </a:pPr>
            <a:r>
              <a:rPr sz="1800" b="0">
                <a:solidFill>
                  <a:srgbClr val="F8FBFF"/>
                </a:solidFill>
              </a:rPr>
              <a:t>Cloud Functions에서 JSON 응답을 정규화해 프론트 파싱 오류를 줄임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EE9B0-3CEA-43D3-B41D-AE4746E9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013585"/>
            <a:ext cx="5410200" cy="7126605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7E5AC-90D9-472E-BCCB-D48ED4C8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305050"/>
            <a:ext cx="4838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BBF24"/>
                </a:solidFill>
              </a:defRPr>
            </a:pPr>
            <a:r>
              <a:rPr sz="2325" b="1">
                <a:solidFill>
                  <a:srgbClr val="FBBF24"/>
                </a:solidFill>
              </a:rPr>
              <a:t>퀴즈 범위 확장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7DA7E-7374-4887-981B-5AF2B5E2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819400"/>
            <a:ext cx="4838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8FBFF"/>
                </a:solidFill>
              </a:defRPr>
            </a:pPr>
            <a:r>
              <a:rPr sz="1800" b="0">
                <a:solidFill>
                  <a:srgbClr val="F8FBFF"/>
                </a:solidFill>
              </a:rPr>
              <a:t>기본 문자뿐 아니라 탁음·반탁음·요음까지 단계적으로 학습하도록 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F5272-3A74-4EB5-A15B-1BC560FB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6BAB8-0948-46FA-A321-46C66770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126991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C2D37C-07DE-46DE-AF96-FEE049B0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963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마무리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291F21-F8C8-4686-AF56-5C610DD3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544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일본어를 외우는 앱에서, 일본어를 써보게 만드는 앱으로.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5E409-64D0-4933-A294-7DA72A5B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0681" y="800100"/>
            <a:ext cx="664369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902E2-D394-4BD6-AF67-71FDF8D9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8763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7185"/>
                </a:solidFill>
              </a:defRPr>
            </a:pPr>
            <a:r>
              <a:rPr sz="1425" b="1">
                <a:solidFill>
                  <a:srgbClr val="FB7185"/>
                </a:solidFill>
              </a:rPr>
              <a:t>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FDACF-667E-4EBA-A94A-FBE88370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B86FB-A9DD-4CB2-8527-313556EE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34112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AI는 정답을 대신 주는 도구가 아니라,</a:t>
            </a:r>
          </a:p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학습자가 바로 말해보게 만드는 연습 상대가 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C1AE2-622A-49F7-9CEE-992C3BC2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2183"/>
            <a:ext cx="1107758" cy="3695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3333"/>
            </a:srgbClr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CE131-A803-4132-977C-7A03584B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기초 문자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62CF5-1EC3-42CA-B523-E799A187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308" y="6032183"/>
            <a:ext cx="1107758" cy="3695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EFAC">
              <a:alpha val="13333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4C281-7EE9-4881-978E-35809783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1150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반복 퀴즈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F1ABC-4ACB-48DF-9252-1D40DB48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665" y="6032183"/>
            <a:ext cx="1107758" cy="3695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3333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09EF3-E9CF-4E4A-8BDD-C1896850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1150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BF24"/>
                </a:solidFill>
              </a:defRPr>
            </a:pPr>
            <a:r>
              <a:rPr sz="1425" b="1">
                <a:solidFill>
                  <a:srgbClr val="FBBF24"/>
                </a:solidFill>
              </a:rPr>
              <a:t>상황 표현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20D05-C7FA-4452-8C3E-48407346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023" y="6032183"/>
            <a:ext cx="1107758" cy="3695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>
              <a:alpha val="13333"/>
            </a:srgbClr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C3EEC-9B31-4326-87E8-A8263357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1150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7185"/>
                </a:solidFill>
              </a:defRPr>
            </a:pPr>
            <a:r>
              <a:rPr sz="1425" b="1">
                <a:solidFill>
                  <a:srgbClr val="FB7185"/>
                </a:solidFill>
              </a:rPr>
              <a:t>실전 대화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63A6E-01BB-44B8-8886-A490AED2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00850"/>
            <a:ext cx="11868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FC3DE"/>
                </a:solidFill>
              </a:defRPr>
            </a:pPr>
            <a:r>
              <a:rPr sz="1950" b="0">
                <a:solidFill>
                  <a:srgbClr val="AFC3DE"/>
                </a:solidFill>
              </a:rPr>
              <a:t>기대 효과: 초급 학습자의 진입 장벽을 낮추고, 실제 상황에서 사용할 수 있는 일본어 표현을 자연스럽게 익히게 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700CC-D927-4017-9C66-4499E0A0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B7EAD-B6FC-45EE-A2A0-0552E496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9569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2026-05-15T08:21:17.3100000Z</dcterms:created>
  <dcterms:modified xsi:type="dcterms:W3CDTF">2026-05-15T08:21:17.3100000Z</dcterms:modified>
</coreProperties>
</file>