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56d290e3f74197" /><Relationship Type="http://schemas.openxmlformats.org/officeDocument/2006/relationships/extended-properties" Target="/docProps/app.xml" Id="R7a008982e5f24c18" /><Relationship Type="http://schemas.openxmlformats.org/officeDocument/2006/relationships/officeDocument" Target="/ppt/presentation.xml" Id="R7b957f82aeb7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946655685042c6"/>
  </p:sldMasterIdLst>
  <p:notesMasterIdLst>
    <p:notesMasterId xmlns:r="http://schemas.openxmlformats.org/officeDocument/2006/relationships" r:id="R0da93911fca94888"/>
  </p:notesMasterIdLst>
  <p:sldIdLst>
    <p:sldId xmlns:r="http://schemas.openxmlformats.org/officeDocument/2006/relationships" id="256" r:id="R1a10f8a82b534746"/>
    <p:sldId xmlns:r="http://schemas.openxmlformats.org/officeDocument/2006/relationships" id="257" r:id="R34604c6bcb374c95"/>
    <p:sldId xmlns:r="http://schemas.openxmlformats.org/officeDocument/2006/relationships" id="258" r:id="R131fe88172834b01"/>
    <p:sldId xmlns:r="http://schemas.openxmlformats.org/officeDocument/2006/relationships" id="259" r:id="R86f92bb9c9974420"/>
    <p:sldId xmlns:r="http://schemas.openxmlformats.org/officeDocument/2006/relationships" id="260" r:id="R777c197bb9094be3"/>
    <p:sldId xmlns:r="http://schemas.openxmlformats.org/officeDocument/2006/relationships" id="261" r:id="R49cc19e4083c49d2"/>
    <p:sldId xmlns:r="http://schemas.openxmlformats.org/officeDocument/2006/relationships" id="262" r:id="Raffe800ecd8c432f"/>
    <p:sldId xmlns:r="http://schemas.openxmlformats.org/officeDocument/2006/relationships" id="263" r:id="Rd2c45c766ea346a4"/>
    <p:sldId xmlns:r="http://schemas.openxmlformats.org/officeDocument/2006/relationships" id="264" r:id="R98bb3c2e656648c7"/>
    <p:sldId xmlns:r="http://schemas.openxmlformats.org/officeDocument/2006/relationships" id="265" r:id="Rb39eacb416904af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46655685042c6" /><Relationship Type="http://schemas.openxmlformats.org/officeDocument/2006/relationships/theme" Target="/ppt/theme/theme1.xml" Id="R090b83cd9e6a4c52" /><Relationship Type="http://schemas.openxmlformats.org/officeDocument/2006/relationships/notesMaster" Target="/ppt/notesMasters/notesMaster1.xml" Id="R0da93911fca94888" /><Relationship Type="http://schemas.openxmlformats.org/officeDocument/2006/relationships/presProps" Target="/ppt/presProps.xml" Id="R8ac779c41b32491f" /><Relationship Type="http://schemas.openxmlformats.org/officeDocument/2006/relationships/viewProps" Target="/ppt/viewProps.xml" Id="R564b5dcbad4644b5" /><Relationship Type="http://schemas.openxmlformats.org/officeDocument/2006/relationships/tableStyles" Target="/ppt/tableStyles.xml" Id="R79d4e3e0b0274098" /><Relationship Type="http://schemas.openxmlformats.org/officeDocument/2006/relationships/slide" Target="/ppt/slides/slide1.xml" Id="R1a10f8a82b534746" /><Relationship Type="http://schemas.openxmlformats.org/officeDocument/2006/relationships/slide" Target="/ppt/slides/slide2.xml" Id="R34604c6bcb374c95" /><Relationship Type="http://schemas.openxmlformats.org/officeDocument/2006/relationships/slide" Target="/ppt/slides/slide3.xml" Id="R131fe88172834b01" /><Relationship Type="http://schemas.openxmlformats.org/officeDocument/2006/relationships/slide" Target="/ppt/slides/slide4.xml" Id="R86f92bb9c9974420" /><Relationship Type="http://schemas.openxmlformats.org/officeDocument/2006/relationships/slide" Target="/ppt/slides/slide5.xml" Id="R777c197bb9094be3" /><Relationship Type="http://schemas.openxmlformats.org/officeDocument/2006/relationships/slide" Target="/ppt/slides/slide6.xml" Id="R49cc19e4083c49d2" /><Relationship Type="http://schemas.openxmlformats.org/officeDocument/2006/relationships/slide" Target="/ppt/slides/slide7.xml" Id="Raffe800ecd8c432f" /><Relationship Type="http://schemas.openxmlformats.org/officeDocument/2006/relationships/slide" Target="/ppt/slides/slide8.xml" Id="Rd2c45c766ea346a4" /><Relationship Type="http://schemas.openxmlformats.org/officeDocument/2006/relationships/slide" Target="/ppt/slides/slide9.xml" Id="R98bb3c2e656648c7" /><Relationship Type="http://schemas.openxmlformats.org/officeDocument/2006/relationships/slide" Target="/ppt/slides/slide10.xml" Id="Rb39eacb416904a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89b1b9c16bc4c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b5ad6b81f4683" /><Relationship Type="http://schemas.openxmlformats.org/officeDocument/2006/relationships/notesMaster" Target="/ppt/notesMasters/notesMaster1.xml" Id="Rd74319221cd945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08648974d146a2" /><Relationship Type="http://schemas.openxmlformats.org/officeDocument/2006/relationships/notesMaster" Target="/ppt/notesMasters/notesMaster1.xml" Id="Raaf2e380bfb241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d1ab19aad04a7c" /><Relationship Type="http://schemas.openxmlformats.org/officeDocument/2006/relationships/notesMaster" Target="/ppt/notesMasters/notesMaster1.xml" Id="R40873459b8fa46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5156ac29db4423" /><Relationship Type="http://schemas.openxmlformats.org/officeDocument/2006/relationships/notesMaster" Target="/ppt/notesMasters/notesMaster1.xml" Id="Ra28641f874f448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e2b9d883cf416a" /><Relationship Type="http://schemas.openxmlformats.org/officeDocument/2006/relationships/notesMaster" Target="/ppt/notesMasters/notesMaster1.xml" Id="R1f339c118d9e4a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d8fbe9bba14a53" /><Relationship Type="http://schemas.openxmlformats.org/officeDocument/2006/relationships/notesMaster" Target="/ppt/notesMasters/notesMaster1.xml" Id="R90fa9dcc8b3a47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22341e47154d90" /><Relationship Type="http://schemas.openxmlformats.org/officeDocument/2006/relationships/notesMaster" Target="/ppt/notesMasters/notesMaster1.xml" Id="R2dc0a0f899b646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2e6cf6752c449d" /><Relationship Type="http://schemas.openxmlformats.org/officeDocument/2006/relationships/notesMaster" Target="/ppt/notesMasters/notesMaster1.xml" Id="Rac84627e2f884d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3d9e13572a4446" /><Relationship Type="http://schemas.openxmlformats.org/officeDocument/2006/relationships/notesMaster" Target="/ppt/notesMasters/notesMaster1.xml" Id="Rfaacc7ae65da4f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1c0161a52d4a75" /><Relationship Type="http://schemas.openxmlformats.org/officeDocument/2006/relationships/notesMaster" Target="/ppt/notesMasters/notesMaster1.xml" Id="R500814751d084d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bc15f65d842a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96d562c23da49e2" /><Relationship Type="http://schemas.openxmlformats.org/officeDocument/2006/relationships/slideLayout" Target="/ppt/slideLayouts/slideLayout2.xml" Id="R5e539dd44fc043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539dd44fc043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0361bf4ef34aa1" /><Relationship Type="http://schemas.openxmlformats.org/officeDocument/2006/relationships/notesSlide" Target="/ppt/notesSlides/notesSlide1.xml" Id="R8c201437009746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e0392e99664202" /><Relationship Type="http://schemas.openxmlformats.org/officeDocument/2006/relationships/notesSlide" Target="/ppt/notesSlides/notesSlide2.xml" Id="R05be7b5b009644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482b0eaabc47d4" /><Relationship Type="http://schemas.openxmlformats.org/officeDocument/2006/relationships/notesSlide" Target="/ppt/notesSlides/notesSlide3.xml" Id="Raffb4fa406e24b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8d62316c1c41fd" /><Relationship Type="http://schemas.openxmlformats.org/officeDocument/2006/relationships/notesSlide" Target="/ppt/notesSlides/notesSlide4.xml" Id="Re1cec8266fa845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7631da6df944f4" /><Relationship Type="http://schemas.openxmlformats.org/officeDocument/2006/relationships/notesSlide" Target="/ppt/notesSlides/notesSlide5.xml" Id="R63e29b3455c741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9f0bd50e974253" /><Relationship Type="http://schemas.openxmlformats.org/officeDocument/2006/relationships/notesSlide" Target="/ppt/notesSlides/notesSlide6.xml" Id="R648126fea60c4c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54c9fe0c8c46d3" /><Relationship Type="http://schemas.openxmlformats.org/officeDocument/2006/relationships/notesSlide" Target="/ppt/notesSlides/notesSlide7.xml" Id="R6a24de6986224e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0b482e4c624f61" /><Relationship Type="http://schemas.openxmlformats.org/officeDocument/2006/relationships/notesSlide" Target="/ppt/notesSlides/notesSlide8.xml" Id="Rcefc5c47232745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fa5a71d82647fa" /><Relationship Type="http://schemas.openxmlformats.org/officeDocument/2006/relationships/notesSlide" Target="/ppt/notesSlides/notesSlide9.xml" Id="Re892592c9f9847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5286e2d4664ae7" /><Relationship Type="http://schemas.openxmlformats.org/officeDocument/2006/relationships/notesSlide" Target="/ppt/notesSlides/notesSlide10.xml" Id="R67952ea8c9ed4c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E7CA7B-278E-4337-8141-EA10351C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85800"/>
            <a:ext cx="166859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3333"/>
            </a:srgbClr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EEC05-07C2-4597-A497-E5C6BBE1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AI 활용 경진대회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260C7-BF4B-441C-8EFB-442611F0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62000"/>
            <a:ext cx="1482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호서대학교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FA495-0D12-4B2F-8906-D6E42A7C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286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AF7FF"/>
                </a:solidFill>
              </a:defRPr>
            </a:pPr>
            <a:r>
              <a:rPr sz="11250" b="1">
                <a:solidFill>
                  <a:srgbClr val="EAF7FF"/>
                </a:solidFill>
              </a:rPr>
              <a:t>日本語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37C99-2D89-4CC9-8F42-CA75F4A8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3752850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38BDF8"/>
                </a:solidFill>
              </a:defRPr>
            </a:pPr>
            <a:r>
              <a:rPr sz="7200" b="1">
                <a:solidFill>
                  <a:srgbClr val="38BDF8"/>
                </a:solidFill>
              </a:rPr>
              <a:t>마스터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9DA25-1718-4905-9034-BD2D848C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34200"/>
            <a:ext cx="8229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AFC3DE"/>
                </a:solidFill>
              </a:defRPr>
            </a:pPr>
            <a:r>
              <a:rPr sz="2325" b="0">
                <a:solidFill>
                  <a:srgbClr val="AFC3DE"/>
                </a:solidFill>
              </a:rPr>
              <a:t>기초 문자 학습부터 실전 회화까지 이어지는 AI 일본어 학습 웹앱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F2FE3-92DA-4D87-B65B-36BB0629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334500"/>
            <a:ext cx="1544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6EFAC"/>
                </a:solidFill>
              </a:defRPr>
            </a:pPr>
            <a:r>
              <a:rPr sz="1650" b="1">
                <a:solidFill>
                  <a:srgbClr val="86EFAC"/>
                </a:solidFill>
              </a:rPr>
              <a:t>HTML 단일 앱 · Cloud Functions · Vertex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A0869-34D3-4C44-A12F-BD0F7070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105900"/>
            <a:ext cx="78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FC3DE"/>
                </a:solidFill>
              </a:defRPr>
            </a:pPr>
            <a:r>
              <a:rPr sz="1650" b="0">
                <a:solidFill>
                  <a:srgbClr val="AFC3DE"/>
                </a:solidFill>
              </a:rPr>
              <a:t>발표 5분</a:t>
            </a:r>
          </a:p>
        </p:txBody>
      </p:sp>
    </p:spTree>
    <p:extLst>
      <p:ext uri="{BB962C8B-B14F-4D97-AF65-F5344CB8AC3E}">
        <p14:creationId xmlns:p14="http://schemas.microsoft.com/office/powerpoint/2010/main" val="729460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E02928-273D-4211-BAE9-681C4675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52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왜 만들었나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61C552-04BF-4AA4-B802-8E19FD80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5448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기존 일본어 앱은 기초와 실전 사이의 연결이 약했습니다.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29CF6-44AF-43F3-B6F4-272A7B00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7292" y="914400"/>
            <a:ext cx="1107758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5A60C-EA66-4383-BED7-C0D5202D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906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BF24"/>
                </a:solidFill>
              </a:defRPr>
            </a:pPr>
            <a:r>
              <a:rPr sz="1425" b="1">
                <a:solidFill>
                  <a:srgbClr val="FBBF24"/>
                </a:solidFill>
              </a:rPr>
              <a:t>문제 정의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DB104-E638-4726-99B8-472FF80D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D129A-3C77-4EF8-8C1B-96D22BFD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813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BBF24"/>
                </a:solidFill>
              </a:defRPr>
            </a:pPr>
            <a:r>
              <a:rPr sz="2550" b="1">
                <a:solidFill>
                  <a:srgbClr val="FBBF24"/>
                </a:solidFill>
              </a:rPr>
              <a:t>문제 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25801-EABC-4921-8C65-06D852DB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B1D6B-90FF-4D1F-A1C1-3B7134CF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문자표와 단어장은 외우기 중심이라 지속성이 낮음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5CEBA-050C-44CC-8AC8-91AF34FD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A95BB-1942-4D45-BC76-482744BD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483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퀴즈는 맞고 틀림만 알려주고 약점 누적이 부족함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2A1FE-7AE6-4C07-99AD-F7BD531F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627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B42AC-BA1D-4C4E-98BC-64702BC2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627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실제 여행·생활 상황에서 말해보는 연습이 제한적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EDD95-B378-4ED1-9CD0-BF336B8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05350"/>
            <a:ext cx="813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8BDF8"/>
                </a:solidFill>
              </a:defRPr>
            </a:pPr>
            <a:r>
              <a:rPr sz="2550" b="1">
                <a:solidFill>
                  <a:srgbClr val="38BDF8"/>
                </a:solidFill>
              </a:rPr>
              <a:t>AI 활용 방향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519BB-B369-42B5-A493-47F9BAA8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340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C5938-02E7-4625-AA63-1E043DE0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340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학습자의 상황 입력에 맞춰 표현을 즉시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08B44-51D1-46C5-9DD0-AE1CFF6F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483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E1A80-BB9D-4DED-9B16-9C207274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483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오답과 취약 문자를 기반으로 복습 흐름 제공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CAB91-9B5F-4A60-AA21-D988B42F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627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7EF51-EA87-4D9F-9D8A-7480CA8B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역할 기반 대화로 실제 일본어 사용 장면을 시뮬레이션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3495B-6C35-4535-86E8-3CC4D774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C17B5-0624-4386-8E3E-110B9AE4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2329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060AFD-B9E3-4A03-8F38-94E9ADD1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925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시스템 구조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378EE7-A41F-4FA8-BD77-14A41C43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54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브라우저에서 바로 실행되는 단일 HTML 앱에 GCP 기반 AI 호출을 연결했습니다.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6B851-55AD-4EC8-98B5-A0C64F1F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781050"/>
            <a:ext cx="7048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EFAC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44E5F-A2C8-4E3E-9EA1-045CDAAB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857250"/>
            <a:ext cx="36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DB524-D81F-46D1-99D5-FA68D30A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FEE01-43CD-41C3-A2F4-B03E2A4B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8608"/>
            <a:ext cx="4902200" cy="1524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82453-F88D-446B-9C69-B0417E12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436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BFF"/>
                </a:solidFill>
              </a:defRPr>
            </a:pPr>
            <a:r>
              <a:rPr sz="2400" b="1">
                <a:solidFill>
                  <a:srgbClr val="F8FBFF"/>
                </a:solidFill>
              </a:rPr>
              <a:t>경진대회.html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EFEA0-3E96-4472-9295-C67F95FA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UI · 퀴즈 · 학습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BD4CC-B870-4D55-B78B-A31C4E13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95750"/>
            <a:ext cx="857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8BDF8"/>
                </a:solidFill>
              </a:defRPr>
            </a:pPr>
            <a:r>
              <a:rPr sz="435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3FA10-BD95-4883-B221-FF8632B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098608"/>
            <a:ext cx="4902200" cy="1524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CA308-9EB4-4D56-9BDD-4827F521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436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BFF"/>
                </a:solidFill>
              </a:defRPr>
            </a:pPr>
            <a:r>
              <a:rPr sz="2400" b="1">
                <a:solidFill>
                  <a:srgbClr val="F8FBFF"/>
                </a:solidFill>
              </a:rPr>
              <a:t>Cloud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1E028-A008-4F77-8759-195656EA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720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API 키 보호 · 응답 정규화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BBC02-9DED-438C-830F-2C639909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095750"/>
            <a:ext cx="857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86EFAC"/>
                </a:solidFill>
              </a:defRPr>
            </a:pPr>
            <a:r>
              <a:rPr sz="4350" b="1">
                <a:solidFill>
                  <a:srgbClr val="86EFAC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09DB4-3A3A-4FDF-BD48-108754E0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2850" y="4098608"/>
            <a:ext cx="4902200" cy="1524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97CC8-F02F-40CE-BB5D-8DF7B95C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533900"/>
            <a:ext cx="4362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BFF"/>
                </a:solidFill>
              </a:defRPr>
            </a:pPr>
            <a:r>
              <a:rPr sz="2400" b="1">
                <a:solidFill>
                  <a:srgbClr val="F8FBFF"/>
                </a:solidFill>
              </a:rPr>
              <a:t>Vertex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FCCC7-8CF1-4218-897A-A1A08F34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972050"/>
            <a:ext cx="436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Gemini 기반 표현·대화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C0AC5-F087-45F2-AA72-5390226C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48400"/>
            <a:ext cx="403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8BDF8"/>
                </a:solidFill>
              </a:defRPr>
            </a:pPr>
            <a:r>
              <a:rPr sz="3600" b="1">
                <a:solidFill>
                  <a:srgbClr val="38BDF8"/>
                </a:solidFill>
              </a:rPr>
              <a:t>HTML/CSS/JS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9F6EA-A62A-41BD-8A51-497660BA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389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프론트엔드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57F27-06A7-4417-A667-11ED35D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248400"/>
            <a:ext cx="403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6EFAC"/>
                </a:solidFill>
              </a:defRPr>
            </a:pPr>
            <a:r>
              <a:rPr sz="3600" b="1">
                <a:solidFill>
                  <a:srgbClr val="86EFAC"/>
                </a:solidFill>
              </a:rPr>
              <a:t>localStorage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F67DB-8A6F-4935-BAED-C67CEBFD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8389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기록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E928A-6A2B-44A4-A4E5-78EB2537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248400"/>
            <a:ext cx="403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BBF24"/>
                </a:solidFill>
              </a:defRPr>
            </a:pPr>
            <a:r>
              <a:rPr sz="3600" b="1">
                <a:solidFill>
                  <a:srgbClr val="FBBF24"/>
                </a:solidFill>
              </a:rPr>
              <a:t>Web Speech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085AA-E893-44F0-BD4A-126489EC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8389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발음 재생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FAE72-DA57-45D2-84FA-6DACC4F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248400"/>
            <a:ext cx="403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B7185"/>
                </a:solidFill>
              </a:defRPr>
            </a:pPr>
            <a:r>
              <a:rPr sz="3600" b="1">
                <a:solidFill>
                  <a:srgbClr val="FB7185"/>
                </a:solidFill>
              </a:rPr>
              <a:t>Vertex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FC4ED-9371-499D-BF15-4BAF90C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8389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생성형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C2258-B152-44C2-8BCE-F0D8BB8F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3511A-E007-447E-9E3B-40622070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3426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099A74-D546-4152-9B6C-957E32AD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52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1 · 문자표와 발음 재생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ED7CE9-84AB-4FE2-BE3C-E080D322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58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히라가나·가타카나·탁음·요음을 한 화면에서 탐색하고 바로 들어볼 수 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346E6-D6B7-4FC9-8E03-C1569C6D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7292" y="781050"/>
            <a:ext cx="1107758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77AA9-A225-4BCC-BF51-6A847F81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8572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주요 기능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31436-CA53-477D-A7C0-80C9A76F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0E44D-82D0-4491-8D2E-634FBF77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3585"/>
            <a:ext cx="8846820" cy="7126605"/>
          </a:xfrm>
          <a:prstGeom xmlns:a="http://schemas.openxmlformats.org/drawingml/2006/main" prst="roundRect">
            <a:avLst>
              <a:gd name="adj" fmla="val 3742"/>
            </a:avLst>
          </a:prstGeom>
          <a:solidFill xmlns:a="http://schemas.openxmlformats.org/drawingml/2006/main">
            <a:srgbClr val="0F274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7E7D2-D18F-433A-8FE5-F1969C8A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91100"/>
            <a:ext cx="4648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히라가나·가타카나 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8302A-7D0C-42E7-995B-A24E807C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436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A46FF-E202-405B-80F2-483C8D0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958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FCBFE-68C8-488A-976B-13DAD068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958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기본 오십음도, 탁음·반탁음, 요음까지 확장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EAFB6-AB97-46E5-B9CF-5F54D3D6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102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55773-35B5-4A93-99D7-9787CC7F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102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글자 클릭 시 Web Speech API로 발음 재생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D5DF8-F4A4-4ABE-A7BD-A6D35AC7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245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53A60-8ED6-4A56-9647-515C8EDD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9245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히라가나와 가타카나 비교표로 모양 차이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B9975-AF08-420D-9484-C16EFACA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A4890-578F-4BDC-AB0E-7E0A3823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3605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6DA3FB-D82A-44BC-8364-1EA70219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52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2 · 퀴즈 시스템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CBADFC-735B-4C0C-92D4-B51B7AD3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14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객관식, 타이핑, AI 맞춤 복습으로 반복 학습을 지루하지 않게 구성했습니다.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D6D68-FC0C-4968-96EB-4DC77E3D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7292" y="781050"/>
            <a:ext cx="1107758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EFAC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0A279-63DB-4A8E-AF9A-B8C7F759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8572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주요 기능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EA0D7-3E9F-4E60-994B-944BE185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4C74D-E504-4FD5-908E-2FA214D9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6EFAC"/>
                </a:solidFill>
              </a:defRPr>
            </a:pPr>
            <a:r>
              <a:rPr sz="2250" b="1">
                <a:solidFill>
                  <a:srgbClr val="86EFAC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F3F3C-07A8-4603-8CE7-A78FFC5C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3가지 모드: 객관식 · 타이핑 · AI 맞춤 복습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0A6A5-ADD1-41CD-8416-233E780C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6EFAC"/>
                </a:solidFill>
              </a:defRPr>
            </a:pPr>
            <a:r>
              <a:rPr sz="2250" b="1">
                <a:solidFill>
                  <a:srgbClr val="86EFAC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25D9E-2F02-4F93-8CEA-C79C1B13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범위 선택: 기본 히라가나 → 탁음 포함 → 전체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01F15-B08F-4C8E-85B2-D2FB3E7E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6EFAC"/>
                </a:solidFill>
              </a:defRPr>
            </a:pPr>
            <a:r>
              <a:rPr sz="2250" b="1">
                <a:solidFill>
                  <a:srgbClr val="86EFAC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B7921-180B-4269-B22C-79BD654B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245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퀴즈 기록과 오답 로그를 저장해 복습에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6AE3F-9AD6-4024-913C-B753264E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230" y="2013585"/>
            <a:ext cx="8846820" cy="7126605"/>
          </a:xfrm>
          <a:prstGeom xmlns:a="http://schemas.openxmlformats.org/drawingml/2006/main" prst="roundRect">
            <a:avLst>
              <a:gd name="adj" fmla="val 3742"/>
            </a:avLst>
          </a:prstGeom>
          <a:solidFill xmlns:a="http://schemas.openxmlformats.org/drawingml/2006/main">
            <a:srgbClr val="0F274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A8B1A-ED4F-4C2C-AE09-FB2CEAB3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991100"/>
            <a:ext cx="28956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퀴즈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D5B1F-EB8F-4285-8BD8-69F2980B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436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E7FE3-3E7C-438F-AFA5-A492BEE2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89603-01B0-4ACC-B666-73B59478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26894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B2EC7F-6864-435F-8017-81986B72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735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3 · AI 표현 생성기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9662CC-4F23-4B03-94F6-13560A2D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6896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사용자가 입력한 상황에 맞춰 바로 쓸 수 있는 일본어 표현을 생성합니다.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C2DB7-7410-4706-A4C2-1E30FDBC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1318" y="819150"/>
            <a:ext cx="903732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81F5A-776B-4574-90AE-1970DC38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1150" y="895350"/>
            <a:ext cx="552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BF24"/>
                </a:solidFill>
              </a:defRPr>
            </a:pPr>
            <a:r>
              <a:rPr sz="1425" b="1">
                <a:solidFill>
                  <a:srgbClr val="FBBF24"/>
                </a:solidFill>
              </a:rPr>
              <a:t>AI 기능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18FA8-9900-470C-A311-2C4B0DB9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7654B-DCA6-4F5D-817B-F2250978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8601075" cy="6863715"/>
          </a:xfrm>
          <a:prstGeom xmlns:a="http://schemas.openxmlformats.org/drawingml/2006/main" prst="roundRect">
            <a:avLst>
              <a:gd name="adj" fmla="val 3886"/>
            </a:avLst>
          </a:prstGeom>
          <a:solidFill xmlns:a="http://schemas.openxmlformats.org/drawingml/2006/main">
            <a:srgbClr val="0F274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6B8E6-9C2F-40FA-B972-21AAFC73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24450"/>
            <a:ext cx="3619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AI 표현 생성기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DB2B0-F4B8-4A9B-89F2-E734599C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0769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B8458-F66D-46C0-BDE4-2F461141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724400"/>
            <a:ext cx="7791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BBF24"/>
                </a:solidFill>
              </a:defRPr>
            </a:pPr>
            <a:r>
              <a:rPr sz="2400" b="1">
                <a:solidFill>
                  <a:srgbClr val="FBBF24"/>
                </a:solidFill>
              </a:rPr>
              <a:t>예시 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C1899-9855-498F-9436-2AC30E4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3149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FBEA2-44BD-4C5D-A2EF-E444ABD0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314950"/>
            <a:ext cx="741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상황 입력: 편의점, 식당, 길 찾기 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0F0C2-03F5-4574-BB91-D1411FA1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8293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80FA2-323E-4C64-BFB3-E7014924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829300"/>
            <a:ext cx="741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일본어 표현 · 히라가나 독음 · 한국어 뜻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EBBC4-B352-4CEA-B4F0-EA18646B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436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0D7EE-C716-4251-BB05-06C56663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343650"/>
            <a:ext cx="741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AI 실패 시 오프라인 상황 DB로 기본 표현 제공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B467C-E953-4910-AC7D-3499C567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37721-9060-4454-8F66-308A1ED7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339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8C9B19-B75E-46B0-9659-A374B3DC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735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4 · AI 대화 시뮬레이터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F179A5-F1E7-4D26-8071-70A909EC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5943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식당·호텔·공항 등 실제 역할 상황에서 AI와 짧게 주고받습니다.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9939F-B767-4EF7-AF94-3CFA35C5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1318" y="819150"/>
            <a:ext cx="903732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9FC64-C74D-413C-BA7C-CBF4AA73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1150" y="895350"/>
            <a:ext cx="552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7185"/>
                </a:solidFill>
              </a:defRPr>
            </a:pPr>
            <a:r>
              <a:rPr sz="1425" b="1">
                <a:solidFill>
                  <a:srgbClr val="FB7185"/>
                </a:solidFill>
              </a:rPr>
              <a:t>AI 기능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E1BBD-89D0-4910-9B5E-194CD8DC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CE27C-C158-4B76-9AB7-9478C23D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7185"/>
                </a:solidFill>
              </a:defRPr>
            </a:pPr>
            <a:r>
              <a:rPr sz="2250" b="1">
                <a:solidFill>
                  <a:srgbClr val="FB718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C385E-70ED-48B1-AF19-70C77A2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8가지 상황 카드로 대화 맥락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D7256-5C08-47DA-A6F2-0C73B0A2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7185"/>
                </a:solidFill>
              </a:defRPr>
            </a:pPr>
            <a:r>
              <a:rPr sz="2250" b="1">
                <a:solidFill>
                  <a:srgbClr val="FB718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916DC-7052-459B-8DC0-8EECB27B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일본어 답변, 히라가나 독음, 한국어 해석 동시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73426-7E9B-4BB0-BBCC-7F2156C7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7185"/>
                </a:solidFill>
              </a:defRPr>
            </a:pPr>
            <a:r>
              <a:rPr sz="2250" b="1">
                <a:solidFill>
                  <a:srgbClr val="FB718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03CDD-2857-4B1C-8A6A-2E58ED6A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579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힌트 버튼으로 다음 말하기 예시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D8FAE-DB39-4925-8BA9-3605D8E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230" y="2276475"/>
            <a:ext cx="8846820" cy="6863715"/>
          </a:xfrm>
          <a:prstGeom xmlns:a="http://schemas.openxmlformats.org/drawingml/2006/main" prst="roundRect">
            <a:avLst>
              <a:gd name="adj" fmla="val 3886"/>
            </a:avLst>
          </a:prstGeom>
          <a:solidFill xmlns:a="http://schemas.openxmlformats.org/drawingml/2006/main">
            <a:srgbClr val="0F274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C2D8B-956A-4718-BBF4-F20B95FA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124450"/>
            <a:ext cx="4267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AI 대화 시뮬레이터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C8466-9F23-4F02-8973-E91551B0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0769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B4AAA-ED11-4D69-B2E2-855E8F10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4DAD4-E4D1-49B4-9511-710F8892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285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EF2DB7-332C-492F-80D0-85B1283E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52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학습 커리큘럼과 통계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96A8C7-1D7D-462D-8247-6A792387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6343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36단원 진행률과 XP/레벨 시스템으로 학습 지속성을 만들었습니다.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66A69-46AD-4EEF-A89F-EAA6A465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7292" y="914400"/>
            <a:ext cx="1107758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4FA90-AE1A-4F9D-B3CF-8D0BCB3D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9906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학습 설계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76C0A-7C7B-4ACC-91DA-C410EB8E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A1D64-643D-4A42-9CB0-481AC2D9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8601075" cy="6863715"/>
          </a:xfrm>
          <a:prstGeom xmlns:a="http://schemas.openxmlformats.org/drawingml/2006/main" prst="roundRect">
            <a:avLst>
              <a:gd name="adj" fmla="val 3886"/>
            </a:avLst>
          </a:prstGeom>
          <a:solidFill xmlns:a="http://schemas.openxmlformats.org/drawingml/2006/main">
            <a:srgbClr val="0F274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EA6A3-062A-4796-B72A-977A2DC1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24450"/>
            <a:ext cx="43434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커리큘럼·통계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CD23F-5FF2-49A1-B5DC-32041209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07695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D70E2-9032-4F61-B6EB-72D1FA25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95800"/>
            <a:ext cx="377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8BDF8"/>
                </a:solidFill>
              </a:defRPr>
            </a:pPr>
            <a:r>
              <a:rPr sz="3600" b="1">
                <a:solidFill>
                  <a:srgbClr val="38BDF8"/>
                </a:solidFill>
              </a:rPr>
              <a:t>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8D51C-BB4C-4F1D-A0DF-CB519194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8635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단원 커리큘럼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27FE2-925C-4C73-9188-218345DE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495800"/>
            <a:ext cx="377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6EFAC"/>
                </a:solidFill>
              </a:defRPr>
            </a:pPr>
            <a:r>
              <a:rPr sz="3600" b="1">
                <a:solidFill>
                  <a:srgbClr val="86EFAC"/>
                </a:solidFill>
              </a:rPr>
              <a:t>XP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53113-1224-40AA-A533-D5811EFC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08635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학습 보상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1548A-4B87-436D-88A8-75A738D1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562600"/>
            <a:ext cx="377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BBF24"/>
                </a:solidFill>
              </a:defRPr>
            </a:pPr>
            <a:r>
              <a:rPr sz="3600" b="1">
                <a:solidFill>
                  <a:srgbClr val="FBBF24"/>
                </a:solidFill>
              </a:rPr>
              <a:t>Lv.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9A968-DB3A-4DE8-8675-A9B76D8E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13410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레벨 성장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59B2A-409C-4534-A46B-A36B8C6E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562600"/>
            <a:ext cx="377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B7185"/>
                </a:solidFill>
              </a:defRPr>
            </a:pPr>
            <a:r>
              <a:rPr sz="3600" b="1">
                <a:solidFill>
                  <a:srgbClr val="FB7185"/>
                </a:solidFill>
              </a:rPr>
              <a:t>TOP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942E66-C114-4F38-93E6-0F0D9C7D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613410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약점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B68C9-3A4B-4CE3-ADF6-D485ECCD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62940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FC3DE"/>
                </a:solidFill>
              </a:defRPr>
            </a:pPr>
            <a:r>
              <a:rPr sz="1875" b="0">
                <a:solidFill>
                  <a:srgbClr val="AFC3DE"/>
                </a:solidFill>
              </a:rPr>
              <a:t>단순 암기 앱보다 ‘오늘 어디까지 했는지’가 보이도록 설계했습니다.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DF51A-4E9E-4582-91C8-9DAFF3BF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CAF2E-B1F4-4BE2-8DFF-4F87BF4A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263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835971-0421-4D06-9714-78DF0566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52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개발 과정에서 해결한 문제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DDA0E2-83C3-47DA-AB89-1E6FE318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878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앱 자체뿐 아니라 개발 과정에서도 Codex·Claude 같은 생성형 AI를 협업 도구로 활용했습니다.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05AAF-DF66-43F0-8312-4BA608C0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7292" y="781050"/>
            <a:ext cx="1107758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EFAC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77C71-FED1-431E-9AE1-E6B7214D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8572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개발 과정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4509E-5FEE-45D4-8462-9346B1B4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9E17C-76F4-4B6A-AD29-75B68897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3585"/>
            <a:ext cx="4043363" cy="7126605"/>
          </a:xfrm>
          <a:prstGeom xmlns:a="http://schemas.openxmlformats.org/drawingml/2006/main" prst="roundRect">
            <a:avLst>
              <a:gd name="adj" fmla="val 6125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51B0A-F85B-4EE8-BF6A-6A72F23F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3467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생성형 AI 협업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CA7E3-2312-47D0-9718-FB8EB0AA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467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BFF"/>
                </a:solidFill>
              </a:defRPr>
            </a:pPr>
            <a:r>
              <a:rPr sz="1575" b="0">
                <a:solidFill>
                  <a:srgbClr val="F8FBFF"/>
                </a:solidFill>
              </a:rPr>
              <a:t>Codex와 Claude를 활용해 코드 구조 점검, 오류 원인 분석, 발표 자료 구성을 함께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C7CAE-9137-48C4-9838-11EB8E2B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863" y="2013585"/>
            <a:ext cx="4043363" cy="7126605"/>
          </a:xfrm>
          <a:prstGeom xmlns:a="http://schemas.openxmlformats.org/drawingml/2006/main" prst="roundRect">
            <a:avLst>
              <a:gd name="adj" fmla="val 6125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0D6AE-B0DF-4634-A6AD-C89F44A6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05050"/>
            <a:ext cx="3467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6EFAC"/>
                </a:solidFill>
              </a:defRPr>
            </a:pPr>
            <a:r>
              <a:rPr sz="2100" b="1">
                <a:solidFill>
                  <a:srgbClr val="86EFAC"/>
                </a:solidFill>
              </a:rPr>
              <a:t>Vertex AI 전환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3EC47-6DCF-4067-8800-0DD24EEF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00350"/>
            <a:ext cx="3467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BFF"/>
                </a:solidFill>
              </a:defRPr>
            </a:pPr>
            <a:r>
              <a:rPr sz="1575" b="0">
                <a:solidFill>
                  <a:srgbClr val="F8FBFF"/>
                </a:solidFill>
              </a:rPr>
              <a:t>기존 Gemini API 키 방식에서 GCP 크레딧을 활용할 수 있는 Vertex AI 구조로 전환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527C0-D2B8-4735-8CB7-503D02AF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13585"/>
            <a:ext cx="4043363" cy="7126605"/>
          </a:xfrm>
          <a:prstGeom xmlns:a="http://schemas.openxmlformats.org/drawingml/2006/main" prst="roundRect">
            <a:avLst>
              <a:gd name="adj" fmla="val 6125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F77BE-A171-4F72-8163-E68EAC50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05050"/>
            <a:ext cx="3467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BBF24"/>
                </a:solidFill>
              </a:defRPr>
            </a:pPr>
            <a:r>
              <a:rPr sz="2100" b="1">
                <a:solidFill>
                  <a:srgbClr val="FBBF24"/>
                </a:solidFill>
              </a:rPr>
              <a:t>응답 안정화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63288-C4A4-46CE-A986-D65D93DE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00350"/>
            <a:ext cx="3467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BFF"/>
                </a:solidFill>
              </a:defRPr>
            </a:pPr>
            <a:r>
              <a:rPr sz="1575" b="0">
                <a:solidFill>
                  <a:srgbClr val="F8FBFF"/>
                </a:solidFill>
              </a:rPr>
              <a:t>Cloud Functions에서 JSON 응답을 정규화해 프론트 파싱 오류를 줄임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FBBFF-04D0-425E-B302-211A0E39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688" y="2013585"/>
            <a:ext cx="4043363" cy="7126605"/>
          </a:xfrm>
          <a:prstGeom xmlns:a="http://schemas.openxmlformats.org/drawingml/2006/main" prst="roundRect">
            <a:avLst>
              <a:gd name="adj" fmla="val 6125"/>
            </a:avLst>
          </a:prstGeom>
          <a:solidFill xmlns:a="http://schemas.openxmlformats.org/drawingml/2006/main">
            <a:srgbClr val="102849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D0DA1-CAE5-4339-9257-F9BD1158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305050"/>
            <a:ext cx="3467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B7185"/>
                </a:solidFill>
              </a:defRPr>
            </a:pPr>
            <a:r>
              <a:rPr sz="2100" b="1">
                <a:solidFill>
                  <a:srgbClr val="FB7185"/>
                </a:solidFill>
              </a:rPr>
              <a:t>퀴즈 범위 확장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30361-5773-47EE-98B8-BB4E327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800350"/>
            <a:ext cx="3467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BFF"/>
                </a:solidFill>
              </a:defRPr>
            </a:pPr>
            <a:r>
              <a:rPr sz="1575" b="0">
                <a:solidFill>
                  <a:srgbClr val="F8FBFF"/>
                </a:solidFill>
              </a:rPr>
              <a:t>기본 문자뿐 아니라 탁음·반탁음·요음까지 단계적으로 학습하도록 확장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5173C-DC16-4620-82BD-49F84281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6AB88-C9ED-4F46-8B83-163BA9C1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59565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BB2A13-50D4-43F9-A6C0-F3E1A6E0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5963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마무리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423FBA-3098-472A-A28B-0516186F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544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일본어를 외우는 앱에서, 일본어를 써보게 만드는 앱으로.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14DBD-D377-468A-98AD-0EF14E04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0681" y="800100"/>
            <a:ext cx="664369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>
              <a:alpha val="13333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BAAF9-667C-435E-AD7D-CEA36C2F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8763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7185"/>
                </a:solidFill>
              </a:defRPr>
            </a:pPr>
            <a:r>
              <a:rPr sz="1425" b="1">
                <a:solidFill>
                  <a:srgbClr val="FB7185"/>
                </a:solidFill>
              </a:rPr>
              <a:t>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FA2EC-EB6C-4B40-8D4A-4DFC9B9A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DAD23-64B6-4163-8F42-D676AAE3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34112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AI는 정답을 대신 주는 도구가 아니라,</a:t>
            </a:r>
          </a:p>
          <a:p xmlns:a="http://schemas.openxmlformats.org/drawingml/2006/main"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학습자가 바로 말해보게 만드는 연습 상대가 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56CDD-F2D9-4D48-A384-4EBCE326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2183"/>
            <a:ext cx="1107758" cy="3695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3333"/>
            </a:srgbClr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562D1-6780-44D5-A1A5-F7D4C9DC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기초 문자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57086-EF1F-4F38-9169-B8D1B974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308" y="6032183"/>
            <a:ext cx="1107758" cy="3695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EFAC">
              <a:alpha val="13333"/>
            </a:srgbClr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F6F12-3F7F-46B0-B94E-D7DEB6A7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1150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반복 퀴즈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7E5A8-52C6-4648-B81E-ECC56BDC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665" y="6032183"/>
            <a:ext cx="1107758" cy="3695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3333"/>
            </a:srgbClr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E5BE2-0920-4268-A938-5D3F00DE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1150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BF24"/>
                </a:solidFill>
              </a:defRPr>
            </a:pPr>
            <a:r>
              <a:rPr sz="1425" b="1">
                <a:solidFill>
                  <a:srgbClr val="FBBF24"/>
                </a:solidFill>
              </a:rPr>
              <a:t>상황 표현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FC4C9-414D-47FD-9390-AF72503D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023" y="6032183"/>
            <a:ext cx="1107758" cy="3695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>
              <a:alpha val="13333"/>
            </a:srgbClr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FB451-F063-4B50-9C95-C48C1C95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1150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B7185"/>
                </a:solidFill>
              </a:defRPr>
            </a:pPr>
            <a:r>
              <a:rPr sz="1425" b="1">
                <a:solidFill>
                  <a:srgbClr val="FB7185"/>
                </a:solidFill>
              </a:rPr>
              <a:t>실전 대화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89AB0-A652-460C-9849-A1E37F72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00850"/>
            <a:ext cx="11868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FC3DE"/>
                </a:solidFill>
              </a:defRPr>
            </a:pPr>
            <a:r>
              <a:rPr sz="1950" b="0">
                <a:solidFill>
                  <a:srgbClr val="AFC3DE"/>
                </a:solidFill>
              </a:rPr>
              <a:t>기대 효과: 초급 학습자의 진입 장벽을 낮추고, 실제 상황에서 사용할 수 있는 일본어 표현을 자연스럽게 익히게 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F676A-4197-4D46-AC3A-C0B3C786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869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CC2CF-E669-4DE8-B502-53BC086E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650" y="93916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8123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2026-05-15T08:29:59.2370000Z</dcterms:created>
  <dcterms:modified xsi:type="dcterms:W3CDTF">2026-05-15T08:29:59.2370000Z</dcterms:modified>
</coreProperties>
</file>